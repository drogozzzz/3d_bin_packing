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1309350" cx="20104100"/>
  <p:notesSz cx="20104100" cy="1130935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55">
          <p15:clr>
            <a:srgbClr val="A4A3A4"/>
          </p15:clr>
        </p15:guide>
        <p15:guide id="2" pos="2127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hQ9DcuFZ9nXLuOxQJvTYrgkWCgv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55" orient="horz"/>
        <p:guide pos="212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3351350" y="848200"/>
            <a:ext cx="13403400" cy="424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020352d40_1_3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d020352d40_1_3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020352d40_1_110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d020352d40_1_110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020352d40_0_21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020352d40_0_21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020352d40_1_55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020352d40_1_55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20352d40_0_36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020352d40_0_36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020352d40_1_62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020352d40_1_62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20352d40_1_91:notes"/>
          <p:cNvSpPr txBox="1"/>
          <p:nvPr>
            <p:ph idx="1" type="body"/>
          </p:nvPr>
        </p:nvSpPr>
        <p:spPr>
          <a:xfrm>
            <a:off x="2010400" y="5371925"/>
            <a:ext cx="16083300" cy="50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020352d40_1_91:notes"/>
          <p:cNvSpPr/>
          <p:nvPr>
            <p:ph idx="2" type="sldImg"/>
          </p:nvPr>
        </p:nvSpPr>
        <p:spPr>
          <a:xfrm>
            <a:off x="3351350" y="848200"/>
            <a:ext cx="13403400" cy="4241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636494" y="3749487"/>
            <a:ext cx="6066155" cy="183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5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>
                <a:solidFill>
                  <a:srgbClr val="D223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/>
          <p:nvPr/>
        </p:nvSpPr>
        <p:spPr>
          <a:xfrm>
            <a:off x="5235" y="0"/>
            <a:ext cx="10052050" cy="11308715"/>
          </a:xfrm>
          <a:custGeom>
            <a:rect b="b" l="l" r="r" t="t"/>
            <a:pathLst>
              <a:path extrusionOk="0" h="11308715" w="10052050">
                <a:moveTo>
                  <a:pt x="10052039" y="0"/>
                </a:moveTo>
                <a:lnTo>
                  <a:pt x="0" y="0"/>
                </a:lnTo>
                <a:lnTo>
                  <a:pt x="0" y="11308556"/>
                </a:lnTo>
                <a:lnTo>
                  <a:pt x="10052039" y="11308556"/>
                </a:lnTo>
                <a:lnTo>
                  <a:pt x="10052039" y="0"/>
                </a:lnTo>
                <a:close/>
              </a:path>
            </a:pathLst>
          </a:custGeom>
          <a:solidFill>
            <a:srgbClr val="EB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4"/>
          <p:cNvSpPr txBox="1"/>
          <p:nvPr>
            <p:ph type="title"/>
          </p:nvPr>
        </p:nvSpPr>
        <p:spPr>
          <a:xfrm>
            <a:off x="636462" y="443829"/>
            <a:ext cx="3949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5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" type="body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2" type="body"/>
          </p:nvPr>
        </p:nvSpPr>
        <p:spPr>
          <a:xfrm>
            <a:off x="11341927" y="3445810"/>
            <a:ext cx="7846694" cy="6490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5"/>
          <p:cNvSpPr/>
          <p:nvPr/>
        </p:nvSpPr>
        <p:spPr>
          <a:xfrm>
            <a:off x="0" y="0"/>
            <a:ext cx="20104100" cy="11308715"/>
          </a:xfrm>
          <a:custGeom>
            <a:rect b="b" l="l" r="r" t="t"/>
            <a:pathLst>
              <a:path extrusionOk="0" h="11308715" w="20104100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5"/>
          <p:cNvSpPr txBox="1"/>
          <p:nvPr>
            <p:ph type="title"/>
          </p:nvPr>
        </p:nvSpPr>
        <p:spPr>
          <a:xfrm>
            <a:off x="636462" y="443829"/>
            <a:ext cx="3949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5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 txBox="1"/>
          <p:nvPr>
            <p:ph type="title"/>
          </p:nvPr>
        </p:nvSpPr>
        <p:spPr>
          <a:xfrm>
            <a:off x="636462" y="443829"/>
            <a:ext cx="3949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5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10165135" y="4094116"/>
            <a:ext cx="929005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>
                <a:solidFill>
                  <a:srgbClr val="D223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636462" y="443829"/>
            <a:ext cx="39497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95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10165135" y="4094116"/>
            <a:ext cx="9290050" cy="429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600" u="none" cap="none" strike="noStrike">
                <a:solidFill>
                  <a:srgbClr val="D2232A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1" type="ft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1"/>
          <p:cNvSpPr txBox="1"/>
          <p:nvPr>
            <p:ph idx="10" type="dt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"/>
          <p:cNvSpPr txBox="1"/>
          <p:nvPr/>
        </p:nvSpPr>
        <p:spPr>
          <a:xfrm>
            <a:off x="19332943" y="486141"/>
            <a:ext cx="122555" cy="335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2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>
                <a:solidFill>
                  <a:srgbClr val="939598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6" name="Google Shape;4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2050" y="0"/>
            <a:ext cx="10052039" cy="1130855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"/>
          <p:cNvSpPr txBox="1"/>
          <p:nvPr>
            <p:ph type="ctrTitle"/>
          </p:nvPr>
        </p:nvSpPr>
        <p:spPr>
          <a:xfrm>
            <a:off x="543224" y="821437"/>
            <a:ext cx="60663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12700" marR="5080" rtl="0" algn="l">
              <a:lnSpc>
                <a:spcPct val="1134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100">
                <a:solidFill>
                  <a:srgbClr val="000000"/>
                </a:solidFill>
              </a:rPr>
              <a:t>Эвристические и ML подходы к решению задачи 3D bin packing</a:t>
            </a:r>
            <a:endParaRPr sz="6100"/>
          </a:p>
        </p:txBody>
      </p:sp>
      <p:sp>
        <p:nvSpPr>
          <p:cNvPr id="48" name="Google Shape;48;p1"/>
          <p:cNvSpPr txBox="1"/>
          <p:nvPr/>
        </p:nvSpPr>
        <p:spPr>
          <a:xfrm>
            <a:off x="543225" y="9231025"/>
            <a:ext cx="7789500" cy="1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950">
                <a:latin typeface="Trebuchet MS"/>
                <a:ea typeface="Trebuchet MS"/>
                <a:cs typeface="Trebuchet MS"/>
                <a:sym typeface="Trebuchet MS"/>
              </a:rPr>
              <a:t>Студент ФН12-81Б - Иртюга И. В.</a:t>
            </a:r>
            <a:endParaRPr sz="29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t/>
            </a:r>
            <a:endParaRPr sz="295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15"/>
              </a:spcBef>
              <a:spcAft>
                <a:spcPts val="0"/>
              </a:spcAft>
              <a:buNone/>
            </a:pPr>
            <a:r>
              <a:rPr lang="ru-RU" sz="2950">
                <a:latin typeface="Trebuchet MS"/>
                <a:ea typeface="Trebuchet MS"/>
                <a:cs typeface="Trebuchet MS"/>
                <a:sym typeface="Trebuchet MS"/>
              </a:rPr>
              <a:t>Научный руководитель - Фетисов Д. А.</a:t>
            </a:r>
            <a:endParaRPr sz="295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idx="4294967295" type="ctrTitle"/>
          </p:nvPr>
        </p:nvSpPr>
        <p:spPr>
          <a:xfrm>
            <a:off x="3174155" y="168275"/>
            <a:ext cx="13387500" cy="10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12700" marR="5080" rtl="0" algn="ctr">
              <a:lnSpc>
                <a:spcPct val="1134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2" title="input_data_card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3050" y="1569936"/>
            <a:ext cx="4480074" cy="816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2"/>
          <p:cNvCxnSpPr/>
          <p:nvPr/>
        </p:nvCxnSpPr>
        <p:spPr>
          <a:xfrm flipH="1" rot="10800000">
            <a:off x="8613975" y="5642138"/>
            <a:ext cx="3567300" cy="5400"/>
          </a:xfrm>
          <a:prstGeom prst="straightConnector1">
            <a:avLst/>
          </a:prstGeom>
          <a:noFill/>
          <a:ln cap="flat" cmpd="sng" w="25400">
            <a:solidFill>
              <a:srgbClr val="4F6128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6" name="Google Shape;56;p2"/>
          <p:cNvSpPr txBox="1"/>
          <p:nvPr/>
        </p:nvSpPr>
        <p:spPr>
          <a:xfrm>
            <a:off x="8880403" y="4575263"/>
            <a:ext cx="30639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1E4B37"/>
                </a:solidFill>
              </a:rPr>
              <a:t>Оптимизационный алгоритм</a:t>
            </a:r>
            <a:endParaRPr sz="2400">
              <a:solidFill>
                <a:srgbClr val="1E4B37"/>
              </a:solidFill>
            </a:endParaRPr>
          </a:p>
        </p:txBody>
      </p:sp>
      <p:pic>
        <p:nvPicPr>
          <p:cNvPr id="57" name="Google Shape;57;p2" title="output_data_card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81576" y="1569882"/>
            <a:ext cx="4480075" cy="816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020352d40_1_30"/>
          <p:cNvSpPr txBox="1"/>
          <p:nvPr/>
        </p:nvSpPr>
        <p:spPr>
          <a:xfrm>
            <a:off x="2860675" y="830550"/>
            <a:ext cx="15390300" cy="6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4800">
                <a:solidFill>
                  <a:schemeClr val="dk1"/>
                </a:solidFill>
              </a:rPr>
              <a:t>Метрика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Подсчет скора учитывает по следующим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правилам: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● Жесткие физические ограничения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● С весом 0.5 учитывается утилизация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объема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● С весом 0.3 учитывается кол-во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размещенных коробок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● С весом 0.1 учитывается нарушение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ограничение на хрупкость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● С весом 0.1 накладывается штраф за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время(+0 за &gt; 30 секунд на задачу)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● Дополнительно реализован подсчет кол-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800">
                <a:solidFill>
                  <a:schemeClr val="dk1"/>
                </a:solidFill>
              </a:rPr>
              <a:t>ва паллет для размещения всех грузов</a:t>
            </a:r>
            <a:endParaRPr sz="2800">
              <a:solidFill>
                <a:schemeClr val="dk1"/>
              </a:solidFill>
            </a:endParaRPr>
          </a:p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3" name="Google Shape;63;g3d020352d40_1_30"/>
          <p:cNvSpPr txBox="1"/>
          <p:nvPr/>
        </p:nvSpPr>
        <p:spPr>
          <a:xfrm>
            <a:off x="709302" y="8902150"/>
            <a:ext cx="82692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64" name="Google Shape;64;g3d020352d40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6388" y="7713700"/>
            <a:ext cx="16498875" cy="15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20352d40_1_110"/>
          <p:cNvSpPr/>
          <p:nvPr/>
        </p:nvSpPr>
        <p:spPr>
          <a:xfrm>
            <a:off x="9429750" y="0"/>
            <a:ext cx="10655386" cy="11308715"/>
          </a:xfrm>
          <a:custGeom>
            <a:rect b="b" l="l" r="r" t="t"/>
            <a:pathLst>
              <a:path extrusionOk="0" h="11308715" w="12318365">
                <a:moveTo>
                  <a:pt x="12317949" y="0"/>
                </a:moveTo>
                <a:lnTo>
                  <a:pt x="0" y="0"/>
                </a:lnTo>
                <a:lnTo>
                  <a:pt x="0" y="11308556"/>
                </a:lnTo>
                <a:lnTo>
                  <a:pt x="12317949" y="11308556"/>
                </a:lnTo>
                <a:lnTo>
                  <a:pt x="12317949" y="0"/>
                </a:lnTo>
                <a:close/>
              </a:path>
            </a:pathLst>
          </a:custGeom>
          <a:solidFill>
            <a:srgbClr val="E1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d020352d40_1_110"/>
          <p:cNvSpPr txBox="1"/>
          <p:nvPr>
            <p:ph idx="4294967295" type="ctrTitle"/>
          </p:nvPr>
        </p:nvSpPr>
        <p:spPr>
          <a:xfrm>
            <a:off x="386150" y="767925"/>
            <a:ext cx="9513000" cy="10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0" marR="5080" rtl="0" algn="l">
              <a:lnSpc>
                <a:spcPct val="1134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Подходы к решению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d020352d40_1_110"/>
          <p:cNvSpPr txBox="1"/>
          <p:nvPr/>
        </p:nvSpPr>
        <p:spPr>
          <a:xfrm>
            <a:off x="386152" y="2380175"/>
            <a:ext cx="8269200" cy="25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31800" lvl="0" marL="457200" marR="508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Char char="-"/>
            </a:pPr>
            <a:r>
              <a:rPr lang="ru-RU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Greedy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318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Char char="-"/>
            </a:pPr>
            <a:r>
              <a:rPr lang="ru-RU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GAN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318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Char char="-"/>
            </a:pPr>
            <a:r>
              <a:rPr lang="ru-RU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MaxRects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3180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Char char="-"/>
            </a:pPr>
            <a:r>
              <a:rPr lang="ru-RU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LNS</a:t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2" name="Google Shape;72;g3d020352d40_1_110"/>
          <p:cNvSpPr txBox="1"/>
          <p:nvPr/>
        </p:nvSpPr>
        <p:spPr>
          <a:xfrm>
            <a:off x="709302" y="8902150"/>
            <a:ext cx="8269200" cy="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4572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73" name="Google Shape;73;g3d020352d40_1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6325" y="1641825"/>
            <a:ext cx="7162325" cy="327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g3d020352d40_1_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77700" y="5766050"/>
            <a:ext cx="6660950" cy="4284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g3d020352d40_0_21" title="lns_algorithm_schema (1).png"/>
          <p:cNvPicPr preferRelativeResize="0"/>
          <p:nvPr/>
        </p:nvPicPr>
        <p:blipFill rotWithShape="1">
          <a:blip r:embed="rId3">
            <a:alphaModFix/>
          </a:blip>
          <a:srcRect b="11410" l="0" r="15973" t="0"/>
          <a:stretch/>
        </p:blipFill>
        <p:spPr>
          <a:xfrm>
            <a:off x="895975" y="0"/>
            <a:ext cx="17083648" cy="1022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d020352d40_1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100" y="1734025"/>
            <a:ext cx="14128950" cy="84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d020352d40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9300" y="2067962"/>
            <a:ext cx="7985500" cy="794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d020352d40_0_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5712" y="2779213"/>
            <a:ext cx="9744074" cy="652396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d020352d40_0_36"/>
          <p:cNvSpPr txBox="1"/>
          <p:nvPr/>
        </p:nvSpPr>
        <p:spPr>
          <a:xfrm>
            <a:off x="4628050" y="333925"/>
            <a:ext cx="10848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5080" rtl="0" algn="ctr">
              <a:lnSpc>
                <a:spcPct val="1134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100">
                <a:solidFill>
                  <a:srgbClr val="274E13"/>
                </a:solidFill>
                <a:latin typeface="Trebuchet MS"/>
                <a:ea typeface="Trebuchet MS"/>
                <a:cs typeface="Trebuchet MS"/>
                <a:sym typeface="Trebuchet MS"/>
              </a:rPr>
              <a:t>LNS</a:t>
            </a:r>
            <a:r>
              <a:rPr lang="ru-RU" sz="6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vs </a:t>
            </a:r>
            <a:r>
              <a:rPr lang="ru-RU" sz="6100">
                <a:solidFill>
                  <a:srgbClr val="274E13"/>
                </a:solidFill>
                <a:latin typeface="Trebuchet MS"/>
                <a:ea typeface="Trebuchet MS"/>
                <a:cs typeface="Trebuchet MS"/>
                <a:sym typeface="Trebuchet MS"/>
              </a:rPr>
              <a:t>Greedy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020352d40_1_62"/>
          <p:cNvSpPr txBox="1"/>
          <p:nvPr/>
        </p:nvSpPr>
        <p:spPr>
          <a:xfrm>
            <a:off x="19069956" y="486141"/>
            <a:ext cx="385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2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>
                <a:solidFill>
                  <a:srgbClr val="939598"/>
                </a:solidFill>
                <a:latin typeface="Trebuchet MS"/>
                <a:ea typeface="Trebuchet MS"/>
                <a:cs typeface="Trebuchet MS"/>
                <a:sym typeface="Trebuchet MS"/>
              </a:rPr>
              <a:t>46</a:t>
            </a:r>
            <a:endParaRPr sz="23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7" name="Google Shape;97;g3d020352d40_1_62"/>
          <p:cNvSpPr/>
          <p:nvPr/>
        </p:nvSpPr>
        <p:spPr>
          <a:xfrm>
            <a:off x="11299776" y="-1250"/>
            <a:ext cx="8781502" cy="11308715"/>
          </a:xfrm>
          <a:custGeom>
            <a:rect b="b" l="l" r="r" t="t"/>
            <a:pathLst>
              <a:path extrusionOk="0" h="11308715" w="14697075">
                <a:moveTo>
                  <a:pt x="14696924" y="0"/>
                </a:moveTo>
                <a:lnTo>
                  <a:pt x="0" y="0"/>
                </a:lnTo>
                <a:lnTo>
                  <a:pt x="0" y="11308556"/>
                </a:lnTo>
                <a:lnTo>
                  <a:pt x="14696924" y="11308556"/>
                </a:lnTo>
                <a:lnTo>
                  <a:pt x="14696924" y="0"/>
                </a:lnTo>
                <a:close/>
              </a:path>
            </a:pathLst>
          </a:custGeom>
          <a:solidFill>
            <a:srgbClr val="EBF0F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g3d020352d40_1_62"/>
          <p:cNvSpPr txBox="1"/>
          <p:nvPr/>
        </p:nvSpPr>
        <p:spPr>
          <a:xfrm>
            <a:off x="621125" y="3459775"/>
            <a:ext cx="10239300" cy="60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noAutofit/>
          </a:bodyPr>
          <a:lstStyle/>
          <a:p>
            <a:pPr indent="-412750" lvl="0" marL="457200" marR="5080" rtl="0" algn="l">
              <a:lnSpc>
                <a:spcPct val="114782"/>
              </a:lnSpc>
              <a:spcBef>
                <a:spcPts val="0"/>
              </a:spcBef>
              <a:spcAft>
                <a:spcPts val="0"/>
              </a:spcAft>
              <a:buSzPts val="2900"/>
              <a:buFont typeface="Trebuchet MS"/>
              <a:buChar char="-"/>
            </a:pPr>
            <a:r>
              <a:rPr lang="ru-RU" sz="2900">
                <a:latin typeface="Trebuchet MS"/>
                <a:ea typeface="Trebuchet MS"/>
                <a:cs typeface="Trebuchet MS"/>
                <a:sym typeface="Trebuchet MS"/>
              </a:rPr>
              <a:t>проанализировали различные подходы к решению поставленной задачи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2750" lvl="0" marL="457200" marR="5080" rtl="0" algn="l">
              <a:lnSpc>
                <a:spcPct val="114782"/>
              </a:lnSpc>
              <a:spcBef>
                <a:spcPts val="0"/>
              </a:spcBef>
              <a:spcAft>
                <a:spcPts val="0"/>
              </a:spcAft>
              <a:buSzPts val="2900"/>
              <a:buFont typeface="Trebuchet MS"/>
              <a:buChar char="-"/>
            </a:pPr>
            <a:r>
              <a:rPr lang="ru-RU" sz="2900">
                <a:latin typeface="Trebuchet MS"/>
                <a:ea typeface="Trebuchet MS"/>
                <a:cs typeface="Trebuchet MS"/>
                <a:sym typeface="Trebuchet MS"/>
              </a:rPr>
              <a:t>сравнили данные подходы и выбрали подход с наилучшим результатом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2750" lvl="0" marL="457200" marR="5080" rtl="0" algn="l">
              <a:lnSpc>
                <a:spcPct val="114782"/>
              </a:lnSpc>
              <a:spcBef>
                <a:spcPts val="0"/>
              </a:spcBef>
              <a:spcAft>
                <a:spcPts val="0"/>
              </a:spcAft>
              <a:buSzPts val="2900"/>
              <a:buFont typeface="Trebuchet MS"/>
              <a:buChar char="-"/>
            </a:pPr>
            <a:r>
              <a:rPr lang="ru-RU" sz="2900">
                <a:latin typeface="Trebuchet MS"/>
                <a:ea typeface="Trebuchet MS"/>
                <a:cs typeface="Trebuchet MS"/>
                <a:sym typeface="Trebuchet MS"/>
              </a:rPr>
              <a:t>сделали адаптацию алгоритма для мультипалетного случая, максимально приближенного к реальности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9" name="Google Shape;99;g3d020352d40_1_62"/>
          <p:cNvSpPr txBox="1"/>
          <p:nvPr/>
        </p:nvSpPr>
        <p:spPr>
          <a:xfrm>
            <a:off x="-351350" y="928975"/>
            <a:ext cx="11317200" cy="14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rgbClr val="5FAF2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ru-RU" sz="4800">
                <a:latin typeface="Trebuchet MS"/>
                <a:ea typeface="Trebuchet MS"/>
                <a:cs typeface="Trebuchet MS"/>
                <a:sym typeface="Trebuchet MS"/>
              </a:rPr>
              <a:t>Подведение итогов</a:t>
            </a:r>
            <a:endParaRPr sz="4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0" name="Google Shape;100;g3d020352d40_1_62"/>
          <p:cNvSpPr txBox="1"/>
          <p:nvPr/>
        </p:nvSpPr>
        <p:spPr>
          <a:xfrm>
            <a:off x="12880350" y="1021375"/>
            <a:ext cx="6575100" cy="12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5FAF2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ctr">
              <a:spcBef>
                <a:spcPts val="135"/>
              </a:spcBef>
              <a:spcAft>
                <a:spcPts val="0"/>
              </a:spcAft>
              <a:buNone/>
            </a:pPr>
            <a:r>
              <a:rPr lang="ru-RU" sz="34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Финальные метрики</a:t>
            </a:r>
            <a:endParaRPr sz="34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1" name="Google Shape;101;g3d020352d40_1_62" title="ChatGPT Image 28 апр. 2026 г., 07_24_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9625" y="3668846"/>
            <a:ext cx="8501798" cy="4654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20352d40_1_91"/>
          <p:cNvSpPr txBox="1"/>
          <p:nvPr/>
        </p:nvSpPr>
        <p:spPr>
          <a:xfrm>
            <a:off x="4393450" y="486150"/>
            <a:ext cx="11317200" cy="14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rgbClr val="5FAF2D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ctr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None/>
            </a:pPr>
            <a:r>
              <a:rPr lang="ru-RU" sz="4800">
                <a:latin typeface="Trebuchet MS"/>
                <a:ea typeface="Trebuchet MS"/>
                <a:cs typeface="Trebuchet MS"/>
                <a:sym typeface="Trebuchet MS"/>
              </a:rPr>
              <a:t>Перспективы развития работы</a:t>
            </a:r>
            <a:endParaRPr sz="4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7" name="Google Shape;107;g3d020352d40_1_91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8800" y="5746550"/>
            <a:ext cx="3766500" cy="376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d020352d40_1_91"/>
          <p:cNvSpPr txBox="1"/>
          <p:nvPr/>
        </p:nvSpPr>
        <p:spPr>
          <a:xfrm>
            <a:off x="621125" y="3057800"/>
            <a:ext cx="17760900" cy="76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450">
            <a:noAutofit/>
          </a:bodyPr>
          <a:lstStyle/>
          <a:p>
            <a:pPr indent="0" lvl="0" marL="0" marR="5080" rtl="0" algn="l">
              <a:lnSpc>
                <a:spcPct val="1147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2750" lvl="0" marL="457200" marR="5080" rtl="0" algn="l">
              <a:lnSpc>
                <a:spcPct val="114782"/>
              </a:lnSpc>
              <a:spcBef>
                <a:spcPts val="0"/>
              </a:spcBef>
              <a:spcAft>
                <a:spcPts val="0"/>
              </a:spcAft>
              <a:buSzPts val="2900"/>
              <a:buFont typeface="Trebuchet MS"/>
              <a:buChar char="-"/>
            </a:pPr>
            <a:r>
              <a:rPr lang="ru-RU" sz="2900">
                <a:latin typeface="Trebuchet MS"/>
                <a:ea typeface="Trebuchet MS"/>
                <a:cs typeface="Trebuchet MS"/>
                <a:sym typeface="Trebuchet MS"/>
              </a:rPr>
              <a:t>Применение RL и метаэвристик в рамках данной задачи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12750" lvl="0" marL="457200" marR="5080" rtl="0" algn="l">
              <a:lnSpc>
                <a:spcPct val="114782"/>
              </a:lnSpc>
              <a:spcBef>
                <a:spcPts val="0"/>
              </a:spcBef>
              <a:spcAft>
                <a:spcPts val="0"/>
              </a:spcAft>
              <a:buSzPts val="2900"/>
              <a:buFont typeface="Trebuchet MS"/>
              <a:buChar char="-"/>
            </a:pPr>
            <a:r>
              <a:rPr lang="ru-RU" sz="2900">
                <a:latin typeface="Trebuchet MS"/>
                <a:ea typeface="Trebuchet MS"/>
                <a:cs typeface="Trebuchet MS"/>
                <a:sym typeface="Trebuchet MS"/>
              </a:rPr>
              <a:t>Применение передовых идей и методов, например крайне интересные идеи:</a:t>
            </a:r>
            <a:endParaRPr sz="29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2026-03-15T00:13:00Z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2022-03-02T12:00:00Z</vt:filetime>
  </property>
  <property fmtid="{D5CDD505-2E9C-101B-9397-08002B2CF9AE}" pid="3" name="Creator">
    <vt:lpwstr>Adobe InDesign 17.1 (Macintosh)</vt:lpwstr>
  </property>
  <property fmtid="{D5CDD505-2E9C-101B-9397-08002B2CF9AE}" pid="4" name="LastSaved">
    <vt:filetime>2026-03-14T12:00:00Z</vt:filetime>
  </property>
  <property fmtid="{D5CDD505-2E9C-101B-9397-08002B2CF9AE}" pid="5" name="Producer">
    <vt:lpwstr>Adobe PDF Library 16.0.5</vt:lpwstr>
  </property>
  <property fmtid="{D5CDD505-2E9C-101B-9397-08002B2CF9AE}" pid="6" name="ICV">
    <vt:lpwstr>676DDE7CD5B546A39403492D1822ECAE_12</vt:lpwstr>
  </property>
  <property fmtid="{D5CDD505-2E9C-101B-9397-08002B2CF9AE}" pid="7" name="KSOProductBuildVer">
    <vt:lpwstr>1049-12.2.0.23196</vt:lpwstr>
  </property>
</Properties>
</file>